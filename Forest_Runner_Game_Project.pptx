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26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578"/>
            <a:ext cx="12191695" cy="6858000"/>
          </a:xfrm>
          <a:prstGeom prst="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868680"/>
            <a:ext cx="5440680" cy="3060382"/>
          </a:xfrm>
          <a:prstGeom prst="rect">
            <a:avLst/>
          </a:prstGeom>
          <a:ln w="19050">
            <a:solidFill>
              <a:srgbClr val="B0DFFF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68132" y="210312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AFF"/>
                </a:solidFill>
                <a:latin typeface="Arial"/>
              </a:defRPr>
            </a:pPr>
            <a:r>
              <a:t>Forest Runner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DE2EF"/>
                </a:solidFill>
                <a:latin typeface="Arial"/>
              </a:defRPr>
            </a:pPr>
            <a:r>
              <a:rPr dirty="0"/>
              <a:t>Python </a:t>
            </a:r>
            <a:r>
              <a:rPr dirty="0" err="1"/>
              <a:t>Pygame</a:t>
            </a:r>
            <a:r>
              <a:rPr dirty="0"/>
              <a:t> platform game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617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AFF"/>
                </a:solidFill>
                <a:latin typeface="Arial"/>
              </a:defRPr>
            </a:pPr>
            <a:r>
              <a:t>A bright side-scrolling platformer built with Python and Pygame.</a:t>
            </a:r>
          </a:p>
          <a:p>
            <a:pPr>
              <a:spcAft>
                <a:spcPts val="1200"/>
              </a:spcAft>
              <a:defRPr sz="2100">
                <a:solidFill>
                  <a:srgbClr val="F5FAFF"/>
                </a:solidFill>
                <a:latin typeface="Arial"/>
              </a:defRPr>
            </a:pPr>
            <a:r>
              <a:t>Player collects coins, avoids enemies, and reaches the flag to clear each level.</a:t>
            </a:r>
          </a:p>
          <a:p>
            <a:pPr>
              <a:spcAft>
                <a:spcPts val="1200"/>
              </a:spcAft>
              <a:defRPr sz="2100">
                <a:solidFill>
                  <a:srgbClr val="F5FAFF"/>
                </a:solidFill>
                <a:latin typeface="Arial"/>
              </a:defRPr>
            </a:pPr>
            <a:r>
              <a:t>The project uses custom drawn sprites, tile-map levels, smooth camera movement, and a fullscreen presentation mode.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23460"/>
            <a:ext cx="2057400" cy="1051560"/>
          </a:xfrm>
          <a:prstGeom prst="roundRect">
            <a:avLst/>
          </a:prstGeom>
          <a:solidFill>
            <a:srgbClr val="134143"/>
          </a:solidFill>
          <a:ln w="25400">
            <a:solidFill>
              <a:srgbClr val="56C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260782"/>
            <a:ext cx="2057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56CF2A"/>
                </a:solidFill>
                <a:latin typeface="Arial"/>
              </a:defRPr>
            </a:pPr>
            <a:r>
              <a:rPr dirty="0"/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0118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E2EF"/>
                </a:solidFill>
                <a:latin typeface="Arial"/>
              </a:defRPr>
            </a:pPr>
            <a:r>
              <a:rPr dirty="0"/>
              <a:t>playable levels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1848" y="4809744"/>
            <a:ext cx="2057400" cy="1051560"/>
          </a:xfrm>
          <a:prstGeom prst="roundRect">
            <a:avLst/>
          </a:prstGeom>
          <a:solidFill>
            <a:srgbClr val="134143"/>
          </a:solidFill>
          <a:ln w="25400">
            <a:solidFill>
              <a:srgbClr val="219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799" y="5294556"/>
            <a:ext cx="2057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194E8"/>
                </a:solidFill>
                <a:latin typeface="Arial"/>
              </a:defRPr>
            </a:pPr>
            <a:r>
              <a:rPr dirty="0"/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6128" y="4943090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E2EF"/>
                </a:solidFill>
                <a:latin typeface="Arial"/>
              </a:defRPr>
            </a:pPr>
            <a:r>
              <a:rPr dirty="0"/>
              <a:t>frames per second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46520"/>
            <a:ext cx="10744200" cy="18288"/>
          </a:xfrm>
          <a:prstGeom prst="rect">
            <a:avLst/>
          </a:prstGeom>
          <a:solidFill>
            <a:srgbClr val="437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35640" y="632764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E2EF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AFF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DE2EF"/>
                </a:solidFill>
                <a:latin typeface="Arial"/>
              </a:defRPr>
            </a:pPr>
            <a:r>
              <a:t>What the game is about</a:t>
            </a:r>
          </a:p>
        </p:txBody>
      </p:sp>
      <p:pic>
        <p:nvPicPr>
          <p:cNvPr id="5" name="Picture 4" descr="gam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4937760" cy="2777490"/>
          </a:xfrm>
          <a:prstGeom prst="rect">
            <a:avLst/>
          </a:prstGeom>
          <a:ln w="19050">
            <a:solidFill>
              <a:srgbClr val="B0DFF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7240" y="1325880"/>
            <a:ext cx="5212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5FAFF"/>
                </a:solidFill>
                <a:latin typeface="Arial"/>
              </a:defRPr>
            </a:pPr>
            <a:r>
              <a:t>Genre: 2D platform runner.</a:t>
            </a:r>
          </a:p>
          <a:p>
            <a:pPr>
              <a:spcAft>
                <a:spcPts val="1200"/>
              </a:spcAft>
              <a:defRPr sz="2200">
                <a:solidFill>
                  <a:srgbClr val="F5FAFF"/>
                </a:solidFill>
                <a:latin typeface="Arial"/>
              </a:defRPr>
            </a:pPr>
            <a:r>
              <a:t>Theme: colorful forest world with hills, trees, clouds, grass blocks, coins, and red enemy bugs.</a:t>
            </a:r>
          </a:p>
          <a:p>
            <a:pPr>
              <a:spcAft>
                <a:spcPts val="1200"/>
              </a:spcAft>
              <a:defRPr sz="2200">
                <a:solidFill>
                  <a:srgbClr val="F5FAFF"/>
                </a:solidFill>
                <a:latin typeface="Arial"/>
              </a:defRPr>
            </a:pPr>
            <a:r>
              <a:t>Objective: move from the spawn point to the flag while collecting coins and staying alive.</a:t>
            </a:r>
          </a:p>
          <a:p>
            <a:pPr>
              <a:spcAft>
                <a:spcPts val="1200"/>
              </a:spcAft>
              <a:defRPr sz="2200">
                <a:solidFill>
                  <a:srgbClr val="F5FAFF"/>
                </a:solidFill>
                <a:latin typeface="Arial"/>
              </a:defRPr>
            </a:pPr>
            <a:r>
              <a:t>Game states: menu, playing, win, and game over.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744200" cy="18288"/>
          </a:xfrm>
          <a:prstGeom prst="rect">
            <a:avLst/>
          </a:prstGeom>
          <a:solidFill>
            <a:srgbClr val="437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32764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E2EF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AFF"/>
                </a:solidFill>
                <a:latin typeface="Arial"/>
              </a:defRPr>
            </a:pPr>
            <a:r>
              <a:t>Gameplay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DE2EF"/>
                </a:solidFill>
                <a:latin typeface="Arial"/>
              </a:defRPr>
            </a:pPr>
            <a:r>
              <a:t>Simple, clear, and replayable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5FAFF"/>
                </a:solidFill>
                <a:latin typeface="Arial"/>
              </a:defRPr>
            </a:pPr>
            <a:r>
              <a:t>Start from the main menu.</a:t>
            </a:r>
          </a:p>
          <a:p>
            <a:pPr>
              <a:spcAft>
                <a:spcPts val="1200"/>
              </a:spcAft>
              <a:defRPr sz="2200">
                <a:solidFill>
                  <a:srgbClr val="F5FAFF"/>
                </a:solidFill>
                <a:latin typeface="Arial"/>
              </a:defRPr>
            </a:pPr>
            <a:r>
              <a:t>Run, jump, and land on platforms.</a:t>
            </a:r>
          </a:p>
          <a:p>
            <a:pPr>
              <a:spcAft>
                <a:spcPts val="1200"/>
              </a:spcAft>
              <a:defRPr sz="2200">
                <a:solidFill>
                  <a:srgbClr val="F5FAFF"/>
                </a:solidFill>
                <a:latin typeface="Arial"/>
              </a:defRPr>
            </a:pPr>
            <a:r>
              <a:t>Collect coins to increase the score.</a:t>
            </a:r>
          </a:p>
          <a:p>
            <a:pPr>
              <a:spcAft>
                <a:spcPts val="1200"/>
              </a:spcAft>
              <a:defRPr sz="2200">
                <a:solidFill>
                  <a:srgbClr val="F5FAFF"/>
                </a:solidFill>
                <a:latin typeface="Arial"/>
              </a:defRPr>
            </a:pPr>
            <a:r>
              <a:t>Avoid red enemies and falling below the map.</a:t>
            </a:r>
          </a:p>
          <a:p>
            <a:pPr>
              <a:spcAft>
                <a:spcPts val="1200"/>
              </a:spcAft>
              <a:defRPr sz="2200">
                <a:solidFill>
                  <a:srgbClr val="F5FAFF"/>
                </a:solidFill>
                <a:latin typeface="Arial"/>
              </a:defRPr>
            </a:pPr>
            <a:r>
              <a:t>Touch the flag to advance to the next level.</a:t>
            </a:r>
          </a:p>
          <a:p>
            <a:pPr>
              <a:spcAft>
                <a:spcPts val="1200"/>
              </a:spcAft>
              <a:defRPr sz="2200">
                <a:solidFill>
                  <a:srgbClr val="F5FAFF"/>
                </a:solidFill>
                <a:latin typeface="Arial"/>
              </a:defRPr>
            </a:pPr>
            <a:r>
              <a:t>Finish all levels to reach the win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800600" cy="3063240"/>
          </a:xfrm>
          <a:prstGeom prst="roundRect">
            <a:avLst/>
          </a:prstGeom>
          <a:solidFill>
            <a:srgbClr val="061623"/>
          </a:solidFill>
          <a:ln w="19050">
            <a:solidFill>
              <a:srgbClr val="4DE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29400" y="1673351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6CF2A"/>
                </a:solidFill>
                <a:latin typeface="Arial"/>
              </a:defRPr>
            </a:pPr>
            <a:r>
              <a:t>Core win 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148839"/>
            <a:ext cx="4343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5FAFF"/>
                </a:solidFill>
                <a:latin typeface="Consolas"/>
              </a:defRPr>
            </a:pPr>
            <a:r>
              <a:t>if player touches flag:</a:t>
            </a:r>
          </a:p>
          <a:p>
            <a:pPr>
              <a:spcAft>
                <a:spcPts val="400"/>
              </a:spcAft>
              <a:defRPr sz="1300">
                <a:solidFill>
                  <a:srgbClr val="F5FAFF"/>
                </a:solidFill>
                <a:latin typeface="Consolas"/>
              </a:defRPr>
            </a:pPr>
            <a:r>
              <a:t>    load next level</a:t>
            </a:r>
          </a:p>
          <a:p>
            <a:pPr>
              <a:spcAft>
                <a:spcPts val="400"/>
              </a:spcAft>
              <a:defRPr sz="1300">
                <a:solidFill>
                  <a:srgbClr val="F5FAFF"/>
                </a:solidFill>
                <a:latin typeface="Consolas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F5FAFF"/>
                </a:solidFill>
                <a:latin typeface="Consolas"/>
              </a:defRPr>
            </a:pPr>
            <a:r>
              <a:t>if last level is complete:</a:t>
            </a:r>
          </a:p>
          <a:p>
            <a:pPr>
              <a:spcAft>
                <a:spcPts val="400"/>
              </a:spcAft>
              <a:defRPr sz="1300">
                <a:solidFill>
                  <a:srgbClr val="F5FAFF"/>
                </a:solidFill>
                <a:latin typeface="Consolas"/>
              </a:defRPr>
            </a:pPr>
            <a:r>
              <a:t>    show YOU WIN screen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744200" cy="18288"/>
          </a:xfrm>
          <a:prstGeom prst="rect">
            <a:avLst/>
          </a:prstGeom>
          <a:solidFill>
            <a:srgbClr val="437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E2EF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AFF"/>
                </a:solidFill>
                <a:latin typeface="Arial"/>
              </a:defRPr>
            </a:pPr>
            <a:r>
              <a:t>Controls &amp; Player Feel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DE2EF"/>
                </a:solidFill>
                <a:latin typeface="Arial"/>
              </a:defRPr>
            </a:pPr>
            <a:r>
              <a:t>Responsive movement settings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2057400" cy="1051560"/>
          </a:xfrm>
          <a:prstGeom prst="roundRect">
            <a:avLst/>
          </a:prstGeom>
          <a:solidFill>
            <a:srgbClr val="134143"/>
          </a:solidFill>
          <a:ln w="25400">
            <a:solidFill>
              <a:srgbClr val="219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2057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194E8"/>
                </a:solidFill>
                <a:latin typeface="Arial"/>
              </a:defRPr>
            </a:pPr>
            <a:r>
              <a:t>A /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938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E2EF"/>
                </a:solidFill>
                <a:latin typeface="Arial"/>
              </a:defRPr>
            </a:pPr>
            <a:r>
              <a:t>move left and right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325880"/>
            <a:ext cx="2057400" cy="1051560"/>
          </a:xfrm>
          <a:prstGeom prst="roundRect">
            <a:avLst/>
          </a:prstGeom>
          <a:solidFill>
            <a:srgbClr val="134143"/>
          </a:solidFill>
          <a:ln w="25400">
            <a:solidFill>
              <a:srgbClr val="56C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80" y="1444752"/>
            <a:ext cx="2057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56CF2A"/>
                </a:solidFill>
                <a:latin typeface="Arial"/>
              </a:defRPr>
            </a:pPr>
            <a:r>
              <a:t>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92938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E2EF"/>
                </a:solidFill>
                <a:latin typeface="Arial"/>
              </a:defRPr>
            </a:pPr>
            <a:r>
              <a:t>jump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325880"/>
            <a:ext cx="2057400" cy="1051560"/>
          </a:xfrm>
          <a:prstGeom prst="roundRect">
            <a:avLst/>
          </a:prstGeom>
          <a:solidFill>
            <a:srgbClr val="134143"/>
          </a:solidFill>
          <a:ln w="25400">
            <a:solidFill>
              <a:srgbClr val="FFC6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1444752"/>
            <a:ext cx="2057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C625"/>
                </a:solidFill>
                <a:latin typeface="Arial"/>
              </a:defRPr>
            </a:pPr>
            <a:r>
              <a:t>F11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92938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E2EF"/>
                </a:solidFill>
                <a:latin typeface="Arial"/>
              </a:defRPr>
            </a:pPr>
            <a:r>
              <a:t>toggle fullscreen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325880"/>
            <a:ext cx="2057400" cy="1051560"/>
          </a:xfrm>
          <a:prstGeom prst="roundRect">
            <a:avLst/>
          </a:prstGeom>
          <a:solidFill>
            <a:srgbClr val="134143"/>
          </a:solidFill>
          <a:ln w="25400">
            <a:solidFill>
              <a:srgbClr val="D1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1444752"/>
            <a:ext cx="2057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D1413A"/>
                </a:solidFill>
                <a:latin typeface="Arial"/>
              </a:defRPr>
            </a:pPr>
            <a: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192938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E2EF"/>
                </a:solidFill>
                <a:latin typeface="Arial"/>
              </a:defRPr>
            </a:pPr>
            <a:r>
              <a:t>restart after 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80360"/>
            <a:ext cx="9784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AFF"/>
                </a:solidFill>
                <a:latin typeface="Arial"/>
              </a:defRPr>
            </a:pPr>
            <a:r>
              <a:t>Gravity, jump power, speed, and fall speed are stored in one Settings dataclass.</a:t>
            </a:r>
          </a:p>
          <a:p>
            <a:pPr>
              <a:spcAft>
                <a:spcPts val="1200"/>
              </a:spcAft>
              <a:defRPr sz="2100">
                <a:solidFill>
                  <a:srgbClr val="F5FAFF"/>
                </a:solidFill>
                <a:latin typeface="Arial"/>
              </a:defRPr>
            </a:pPr>
            <a:r>
              <a:t>Coyote time lets the player jump shortly after leaving a platform.</a:t>
            </a:r>
          </a:p>
          <a:p>
            <a:pPr>
              <a:spcAft>
                <a:spcPts val="1200"/>
              </a:spcAft>
              <a:defRPr sz="2100">
                <a:solidFill>
                  <a:srgbClr val="F5FAFF"/>
                </a:solidFill>
                <a:latin typeface="Arial"/>
              </a:defRPr>
            </a:pPr>
            <a:r>
              <a:t>Jump buffering makes a jump press register just before landing.</a:t>
            </a:r>
          </a:p>
          <a:p>
            <a:pPr>
              <a:spcAft>
                <a:spcPts val="1200"/>
              </a:spcAft>
              <a:defRPr sz="2100">
                <a:solidFill>
                  <a:srgbClr val="F5FAFF"/>
                </a:solidFill>
                <a:latin typeface="Arial"/>
              </a:defRPr>
            </a:pPr>
            <a:r>
              <a:t>Collision is separated into horizontal and vertical movement for stable platform behavior.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46520"/>
            <a:ext cx="10744200" cy="18288"/>
          </a:xfrm>
          <a:prstGeom prst="rect">
            <a:avLst/>
          </a:prstGeom>
          <a:solidFill>
            <a:srgbClr val="437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35640" y="632764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E2EF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AFF"/>
                </a:solidFill>
                <a:latin typeface="Arial"/>
              </a:defRPr>
            </a:pPr>
            <a:r>
              <a:t>Level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DE2EF"/>
                </a:solidFill>
                <a:latin typeface="Arial"/>
              </a:defRPr>
            </a:pPr>
            <a:r>
              <a:t>Tile-map based worlds</a:t>
            </a:r>
          </a:p>
        </p:txBody>
      </p:sp>
      <p:pic>
        <p:nvPicPr>
          <p:cNvPr id="5" name="Picture 4" descr="late_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914400"/>
            <a:ext cx="5074920" cy="2854642"/>
          </a:xfrm>
          <a:prstGeom prst="rect">
            <a:avLst/>
          </a:prstGeom>
          <a:ln w="19050">
            <a:solidFill>
              <a:srgbClr val="B0DFF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7240" y="1234440"/>
            <a:ext cx="5074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Each level is stored as rows of characters.</a:t>
            </a:r>
          </a:p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# creates platforms, C creates coins, E creates enemies, P sets the player spawn, and F sets the finish flag.</a:t>
            </a:r>
          </a:p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Long maps are wider than the screen, so the camera follows the player smoothly.</a:t>
            </a:r>
          </a:p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Later levels add more enemy placement, longer jumps, and more repeated platform patterns.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744200" cy="18288"/>
          </a:xfrm>
          <a:prstGeom prst="rect">
            <a:avLst/>
          </a:prstGeom>
          <a:solidFill>
            <a:srgbClr val="437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32764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E2EF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AFF"/>
                </a:solidFill>
                <a:latin typeface="Arial"/>
              </a:defRPr>
            </a:pPr>
            <a:r>
              <a:t>Game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DE2EF"/>
                </a:solidFill>
                <a:latin typeface="Arial"/>
              </a:defRPr>
            </a:pPr>
            <a:r>
              <a:t>Main entities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5577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Player: animated character with movement, jumping, respawn, and collision.</a:t>
            </a:r>
          </a:p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Platforms: grass and dirt tiles that form the ground and floating paths.</a:t>
            </a:r>
          </a:p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Coins: animated collectibles with floating score text.</a:t>
            </a:r>
          </a:p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Enemies: red moving hazards that cause game over on contact.</a:t>
            </a:r>
          </a:p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Flag: level exit that moves the player to the next stage.</a:t>
            </a:r>
          </a:p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Camera: follows the player while staying inside the world bounds.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463040"/>
            <a:ext cx="4114800" cy="2743200"/>
          </a:xfrm>
          <a:prstGeom prst="roundRect">
            <a:avLst/>
          </a:prstGeom>
          <a:solidFill>
            <a:srgbClr val="061623"/>
          </a:solidFill>
          <a:ln w="19050">
            <a:solidFill>
              <a:srgbClr val="4DE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0" y="162763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6CF2A"/>
                </a:solidFill>
                <a:latin typeface="Arial"/>
              </a:defRPr>
            </a:pPr>
            <a:r>
              <a:t>Tile symbols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103120"/>
            <a:ext cx="365760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5FAFF"/>
                </a:solidFill>
                <a:latin typeface="Consolas"/>
              </a:defRPr>
            </a:pPr>
            <a:r>
              <a:t>P = player</a:t>
            </a:r>
          </a:p>
          <a:p>
            <a:pPr>
              <a:spcAft>
                <a:spcPts val="400"/>
              </a:spcAft>
              <a:defRPr sz="1300">
                <a:solidFill>
                  <a:srgbClr val="F5FAFF"/>
                </a:solidFill>
                <a:latin typeface="Consolas"/>
              </a:defRPr>
            </a:pPr>
            <a:r>
              <a:t># = platform</a:t>
            </a:r>
          </a:p>
          <a:p>
            <a:pPr>
              <a:spcAft>
                <a:spcPts val="400"/>
              </a:spcAft>
              <a:defRPr sz="1300">
                <a:solidFill>
                  <a:srgbClr val="F5FAFF"/>
                </a:solidFill>
                <a:latin typeface="Consolas"/>
              </a:defRPr>
            </a:pPr>
            <a:r>
              <a:t>C = coin</a:t>
            </a:r>
          </a:p>
          <a:p>
            <a:pPr>
              <a:spcAft>
                <a:spcPts val="400"/>
              </a:spcAft>
              <a:defRPr sz="1300">
                <a:solidFill>
                  <a:srgbClr val="F5FAFF"/>
                </a:solidFill>
                <a:latin typeface="Consolas"/>
              </a:defRPr>
            </a:pPr>
            <a:r>
              <a:t>E = enemy</a:t>
            </a:r>
          </a:p>
          <a:p>
            <a:pPr>
              <a:spcAft>
                <a:spcPts val="400"/>
              </a:spcAft>
              <a:defRPr sz="1300">
                <a:solidFill>
                  <a:srgbClr val="F5FAFF"/>
                </a:solidFill>
                <a:latin typeface="Consolas"/>
              </a:defRPr>
            </a:pPr>
            <a:r>
              <a:t>F = flag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744200" cy="18288"/>
          </a:xfrm>
          <a:prstGeom prst="rect">
            <a:avLst/>
          </a:prstGeom>
          <a:solidFill>
            <a:srgbClr val="437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E2EF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AFF"/>
                </a:solidFill>
                <a:latin typeface="Arial"/>
              </a:defRPr>
            </a:pPr>
            <a:r>
              <a:t>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DE2EF"/>
                </a:solidFill>
                <a:latin typeface="Arial"/>
              </a:defRPr>
            </a:pPr>
            <a:r>
              <a:t>Readable HUD and state screens</a:t>
            </a:r>
          </a:p>
        </p:txBody>
      </p:sp>
      <p:pic>
        <p:nvPicPr>
          <p:cNvPr id="5" name="Picture 4" descr="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5074920" cy="2854642"/>
          </a:xfrm>
          <a:prstGeom prst="rect">
            <a:avLst/>
          </a:prstGeom>
          <a:ln w="19050">
            <a:solidFill>
              <a:srgbClr val="B0DFF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0" y="132588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HUD displays score, current level, controls hint, lives, and exit button.</a:t>
            </a:r>
          </a:p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Menu screen explains how to start and how to move.</a:t>
            </a:r>
          </a:p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End screens show win or game-over status with restart and quit options.</a:t>
            </a:r>
          </a:p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The game renders to a fixed 960 x 540 surface and scales cleanly to fullscreen.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744200" cy="18288"/>
          </a:xfrm>
          <a:prstGeom prst="rect">
            <a:avLst/>
          </a:prstGeom>
          <a:solidFill>
            <a:srgbClr val="437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32764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E2EF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AFF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DE2EF"/>
                </a:solidFill>
                <a:latin typeface="Arial"/>
              </a:defRPr>
            </a:pPr>
            <a:r>
              <a:t>How the project is organized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5029200" cy="4206240"/>
          </a:xfrm>
          <a:prstGeom prst="roundRect">
            <a:avLst/>
          </a:prstGeom>
          <a:solidFill>
            <a:srgbClr val="061623"/>
          </a:solidFill>
          <a:ln w="19050">
            <a:solidFill>
              <a:srgbClr val="4DE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39903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6CF2A"/>
                </a:solidFill>
                <a:latin typeface="Arial"/>
              </a:defRPr>
            </a:pPr>
            <a:r>
              <a:t>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4572000" cy="3428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5FAFF"/>
                </a:solidFill>
                <a:latin typeface="Consolas"/>
              </a:defRPr>
            </a:pPr>
            <a:r>
              <a:t>main.py       starts the game</a:t>
            </a:r>
          </a:p>
          <a:p>
            <a:pPr>
              <a:spcAft>
                <a:spcPts val="400"/>
              </a:spcAft>
              <a:defRPr sz="1300">
                <a:solidFill>
                  <a:srgbClr val="F5FAFF"/>
                </a:solidFill>
                <a:latin typeface="Consolas"/>
              </a:defRPr>
            </a:pPr>
            <a:r>
              <a:t>game.py       loop, states, rendering</a:t>
            </a:r>
          </a:p>
          <a:p>
            <a:pPr>
              <a:spcAft>
                <a:spcPts val="400"/>
              </a:spcAft>
              <a:defRPr sz="1300">
                <a:solidFill>
                  <a:srgbClr val="F5FAFF"/>
                </a:solidFill>
                <a:latin typeface="Consolas"/>
              </a:defRPr>
            </a:pPr>
            <a:r>
              <a:t>entities.py   player, enemies, coins</a:t>
            </a:r>
          </a:p>
          <a:p>
            <a:pPr>
              <a:spcAft>
                <a:spcPts val="400"/>
              </a:spcAft>
              <a:defRPr sz="1300">
                <a:solidFill>
                  <a:srgbClr val="F5FAFF"/>
                </a:solidFill>
                <a:latin typeface="Consolas"/>
              </a:defRPr>
            </a:pPr>
            <a:r>
              <a:t>levels.py     level tile maps</a:t>
            </a:r>
          </a:p>
          <a:p>
            <a:pPr>
              <a:spcAft>
                <a:spcPts val="400"/>
              </a:spcAft>
              <a:defRPr sz="1300">
                <a:solidFill>
                  <a:srgbClr val="F5FAFF"/>
                </a:solidFill>
                <a:latin typeface="Consolas"/>
              </a:defRPr>
            </a:pPr>
            <a:r>
              <a:t>ui.py         text, panels, buttons</a:t>
            </a:r>
          </a:p>
          <a:p>
            <a:pPr>
              <a:spcAft>
                <a:spcPts val="400"/>
              </a:spcAft>
              <a:defRPr sz="1300">
                <a:solidFill>
                  <a:srgbClr val="F5FAFF"/>
                </a:solidFill>
                <a:latin typeface="Consolas"/>
              </a:defRPr>
            </a:pPr>
            <a:r>
              <a:t>config.py     settings and colors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The game loop runs event handling, update logic, drawing, and presentation every frame.</a:t>
            </a:r>
          </a:p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Pygame Rect objects handle collision checks.</a:t>
            </a:r>
          </a:p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Rendering is procedural, so no external image files are required.</a:t>
            </a:r>
          </a:p>
          <a:p>
            <a:pPr>
              <a:spcAft>
                <a:spcPts val="1200"/>
              </a:spcAft>
              <a:defRPr sz="2000">
                <a:solidFill>
                  <a:srgbClr val="F5FAFF"/>
                </a:solidFill>
                <a:latin typeface="Arial"/>
              </a:defRPr>
            </a:pPr>
            <a:r>
              <a:t>The code separates settings, entities, level data, UI helpers, and game orchestration.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744200" cy="18288"/>
          </a:xfrm>
          <a:prstGeom prst="rect">
            <a:avLst/>
          </a:prstGeom>
          <a:solidFill>
            <a:srgbClr val="437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35640" y="632764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E2EF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AFF"/>
                </a:solidFill>
                <a:latin typeface="Arial"/>
              </a:defRPr>
            </a:pPr>
            <a:r>
              <a:t>Scoring &amp;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DE2EF"/>
                </a:solidFill>
                <a:latin typeface="Arial"/>
              </a:defRPr>
            </a:pPr>
            <a:r>
              <a:t>What makes the game interesting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AFF"/>
                </a:solidFill>
                <a:latin typeface="Arial"/>
              </a:defRPr>
            </a:pPr>
            <a:r>
              <a:t>Coins give immediate score feedback with floating '+1' text.</a:t>
            </a:r>
          </a:p>
          <a:p>
            <a:pPr>
              <a:spcAft>
                <a:spcPts val="1200"/>
              </a:spcAft>
              <a:defRPr sz="2100">
                <a:solidFill>
                  <a:srgbClr val="F5FAFF"/>
                </a:solidFill>
                <a:latin typeface="Arial"/>
              </a:defRPr>
            </a:pPr>
            <a:r>
              <a:t>Enemies patrol horizontally, forcing timing decisions.</a:t>
            </a:r>
          </a:p>
          <a:p>
            <a:pPr>
              <a:spcAft>
                <a:spcPts val="1200"/>
              </a:spcAft>
              <a:defRPr sz="2100">
                <a:solidFill>
                  <a:srgbClr val="F5FAFF"/>
                </a:solidFill>
                <a:latin typeface="Arial"/>
              </a:defRPr>
            </a:pPr>
            <a:r>
              <a:t>Falling costs a life and respawns the player at the level start.</a:t>
            </a:r>
          </a:p>
          <a:p>
            <a:pPr>
              <a:spcAft>
                <a:spcPts val="1200"/>
              </a:spcAft>
              <a:defRPr sz="2100">
                <a:solidFill>
                  <a:srgbClr val="F5FAFF"/>
                </a:solidFill>
                <a:latin typeface="Arial"/>
              </a:defRPr>
            </a:pPr>
            <a:r>
              <a:t>Touching an enemy ends the run immediately.</a:t>
            </a:r>
          </a:p>
          <a:p>
            <a:pPr>
              <a:spcAft>
                <a:spcPts val="1200"/>
              </a:spcAft>
              <a:defRPr sz="2100">
                <a:solidFill>
                  <a:srgbClr val="F5FAFF"/>
                </a:solidFill>
                <a:latin typeface="Arial"/>
              </a:defRPr>
            </a:pPr>
            <a:r>
              <a:t>The flag rewards forward progress and creates a clear finish line for every level.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508760"/>
            <a:ext cx="2057400" cy="1051560"/>
          </a:xfrm>
          <a:prstGeom prst="roundRect">
            <a:avLst/>
          </a:prstGeom>
          <a:solidFill>
            <a:srgbClr val="134143"/>
          </a:solidFill>
          <a:ln w="25400">
            <a:solidFill>
              <a:srgbClr val="D1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0840" y="1627631"/>
            <a:ext cx="2057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D141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79" y="211226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E2EF"/>
                </a:solidFill>
                <a:latin typeface="Arial"/>
              </a:defRPr>
            </a:pPr>
            <a:r>
              <a:t>starting lives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508760"/>
            <a:ext cx="2057400" cy="1051560"/>
          </a:xfrm>
          <a:prstGeom prst="roundRect">
            <a:avLst/>
          </a:prstGeom>
          <a:solidFill>
            <a:srgbClr val="134143"/>
          </a:solidFill>
          <a:ln w="25400">
            <a:solidFill>
              <a:srgbClr val="FFC6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98280" y="1627631"/>
            <a:ext cx="2057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C625"/>
                </a:solidFill>
                <a:latin typeface="Arial"/>
              </a:defRPr>
            </a:pPr>
            <a:r>
              <a:t>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19" y="211226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E2EF"/>
                </a:solidFill>
                <a:latin typeface="Arial"/>
              </a:defRPr>
            </a:pPr>
            <a:r>
              <a:t>score per coin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971800"/>
            <a:ext cx="2057400" cy="1051560"/>
          </a:xfrm>
          <a:prstGeom prst="roundRect">
            <a:avLst/>
          </a:prstGeom>
          <a:solidFill>
            <a:srgbClr val="134143"/>
          </a:solidFill>
          <a:ln w="25400">
            <a:solidFill>
              <a:srgbClr val="219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3090672"/>
            <a:ext cx="2057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194E8"/>
                </a:solidFill>
                <a:latin typeface="Arial"/>
              </a:defRPr>
            </a:pPr>
            <a:r>
              <a:t>150px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79" y="357530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E2EF"/>
                </a:solidFill>
                <a:latin typeface="Arial"/>
              </a:defRPr>
            </a:pPr>
            <a:r>
              <a:t>enemy patrol range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2971800"/>
            <a:ext cx="2057400" cy="1051560"/>
          </a:xfrm>
          <a:prstGeom prst="roundRect">
            <a:avLst/>
          </a:prstGeom>
          <a:solidFill>
            <a:srgbClr val="134143"/>
          </a:solidFill>
          <a:ln w="25400">
            <a:solidFill>
              <a:srgbClr val="56C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98280" y="3090672"/>
            <a:ext cx="2057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56CF2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357530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E2EF"/>
                </a:solidFill>
                <a:latin typeface="Arial"/>
              </a:defRPr>
            </a:pPr>
            <a:r>
              <a:t>coyote frames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46520"/>
            <a:ext cx="10744200" cy="18288"/>
          </a:xfrm>
          <a:prstGeom prst="rect">
            <a:avLst/>
          </a:prstGeom>
          <a:solidFill>
            <a:srgbClr val="437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35640" y="632764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E2EF"/>
                </a:solidFill>
                <a:latin typeface="Arial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AFF"/>
                </a:solidFill>
                <a:latin typeface="Arial"/>
              </a:defRPr>
            </a:pPr>
            <a: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DE2EF"/>
                </a:solidFill>
                <a:latin typeface="Arial"/>
              </a:defRPr>
            </a:pPr>
            <a:r>
              <a:t>Next steps for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5806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5FAFF"/>
                </a:solidFill>
                <a:latin typeface="Arial"/>
              </a:defRPr>
            </a:pPr>
            <a:r>
              <a:t>Add sound effects and background music.</a:t>
            </a:r>
          </a:p>
          <a:p>
            <a:pPr>
              <a:spcAft>
                <a:spcPts val="1200"/>
              </a:spcAft>
              <a:defRPr sz="2200">
                <a:solidFill>
                  <a:srgbClr val="F5FAFF"/>
                </a:solidFill>
                <a:latin typeface="Arial"/>
              </a:defRPr>
            </a:pPr>
            <a:r>
              <a:t>Create a level-select screen and saved best scores.</a:t>
            </a:r>
          </a:p>
          <a:p>
            <a:pPr>
              <a:spcAft>
                <a:spcPts val="1200"/>
              </a:spcAft>
              <a:defRPr sz="2200">
                <a:solidFill>
                  <a:srgbClr val="F5FAFF"/>
                </a:solidFill>
                <a:latin typeface="Arial"/>
              </a:defRPr>
            </a:pPr>
            <a:r>
              <a:t>Add more enemy types and moving platforms.</a:t>
            </a:r>
          </a:p>
          <a:p>
            <a:pPr>
              <a:spcAft>
                <a:spcPts val="1200"/>
              </a:spcAft>
              <a:defRPr sz="2200">
                <a:solidFill>
                  <a:srgbClr val="F5FAFF"/>
                </a:solidFill>
                <a:latin typeface="Arial"/>
              </a:defRPr>
            </a:pPr>
            <a:r>
              <a:t>Include power-ups such as shields, double jump, or speed boost.</a:t>
            </a:r>
          </a:p>
          <a:p>
            <a:pPr>
              <a:spcAft>
                <a:spcPts val="1200"/>
              </a:spcAft>
              <a:defRPr sz="2200">
                <a:solidFill>
                  <a:srgbClr val="F5FAFF"/>
                </a:solidFill>
                <a:latin typeface="Arial"/>
              </a:defRPr>
            </a:pPr>
            <a:r>
              <a:t>Package the project as a standalone executable for easier sharing.</a:t>
            </a:r>
          </a:p>
        </p:txBody>
      </p:sp>
      <p:pic>
        <p:nvPicPr>
          <p:cNvPr id="6" name="Picture 5" descr="gam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25880"/>
            <a:ext cx="3977639" cy="2237422"/>
          </a:xfrm>
          <a:prstGeom prst="rect">
            <a:avLst/>
          </a:prstGeom>
          <a:ln w="19050">
            <a:solidFill>
              <a:srgbClr val="B0DFF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15200" y="4983480"/>
            <a:ext cx="39776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5FA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46520"/>
            <a:ext cx="10744200" cy="18288"/>
          </a:xfrm>
          <a:prstGeom prst="rect">
            <a:avLst/>
          </a:prstGeom>
          <a:solidFill>
            <a:srgbClr val="437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35640" y="632764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E2EF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748</Words>
  <Application>Microsoft Office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shakil sikder</cp:lastModifiedBy>
  <cp:revision>3</cp:revision>
  <dcterms:created xsi:type="dcterms:W3CDTF">2013-01-27T09:14:16Z</dcterms:created>
  <dcterms:modified xsi:type="dcterms:W3CDTF">2026-04-20T03:01:23Z</dcterms:modified>
  <cp:category/>
</cp:coreProperties>
</file>